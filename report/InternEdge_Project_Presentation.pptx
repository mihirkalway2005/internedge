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CONCEPTUAL PROJECT 2  •  WOXSEN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InternEdge</a:t>
            </a:r>
          </a:p>
          <a:p>
            <a:pPr>
              <a:spcBef>
                <a:spcPts val="600"/>
              </a:spcBef>
              <a:defRPr sz="1800" b="1">
                <a:solidFill>
                  <a:srgbClr val="38BDF8"/>
                </a:solidFill>
                <a:latin typeface="Arial"/>
              </a:defRPr>
            </a:pPr>
            <a:r>
              <a:t>Next-Generation AI-Powered Internship Readiness &amp; Career Acceleration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4937760" cy="310896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457200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TEAM MEMBERS (STUDENTS)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Mihir Kalway  —  25WU0102157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Maydhaansh Nanda  —  25WU0102155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Saambhavi Devi  —  25W0101039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 Shaik Imaduddin  —  25WU0101048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108960"/>
            <a:ext cx="5120640" cy="310896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246120"/>
            <a:ext cx="475488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Arial"/>
              </a:defRPr>
            </a:pPr>
            <a:r>
              <a:t>ACADEMIC &amp; EVALUATION DETAILS</a:t>
            </a:r>
          </a:p>
          <a:p>
            <a:pPr>
              <a:spcBef>
                <a:spcPts val="600"/>
              </a:spcBef>
              <a:defRPr sz="1200" b="1">
                <a:solidFill>
                  <a:srgbClr val="94A3B8"/>
                </a:solidFill>
                <a:latin typeface="Arial"/>
              </a:defRPr>
            </a:pPr>
            <a:r>
              <a:t>Mentor: </a:t>
            </a:r>
            <a:r>
              <a:rPr b="0">
                <a:solidFill>
                  <a:srgbClr val="F8FAFC"/>
                </a:solidFill>
              </a:rPr>
              <a:t>Mr. Abhilash Nair</a:t>
            </a:r>
          </a:p>
          <a:p>
            <a:pPr>
              <a:spcBef>
                <a:spcPts val="600"/>
              </a:spcBef>
              <a:defRPr sz="1200" b="1">
                <a:solidFill>
                  <a:srgbClr val="94A3B8"/>
                </a:solidFill>
                <a:latin typeface="Arial"/>
              </a:defRPr>
            </a:pPr>
            <a:r>
              <a:t>Department: </a:t>
            </a:r>
            <a:r>
              <a:rPr b="0">
                <a:solidFill>
                  <a:srgbClr val="F8FAFC"/>
                </a:solidFill>
              </a:rPr>
              <a:t>School of Technology, Woxsen University</a:t>
            </a:r>
          </a:p>
          <a:p>
            <a:pPr>
              <a:spcBef>
                <a:spcPts val="600"/>
              </a:spcBef>
              <a:defRPr sz="1200" b="1">
                <a:solidFill>
                  <a:srgbClr val="94A3B8"/>
                </a:solidFill>
                <a:latin typeface="Arial"/>
              </a:defRPr>
            </a:pPr>
            <a:r>
              <a:t>Program: </a:t>
            </a:r>
            <a:r>
              <a:rPr b="0">
                <a:solidFill>
                  <a:srgbClr val="F8FAFC"/>
                </a:solidFill>
              </a:rPr>
              <a:t>B. Tech. in Computer Science &amp; Engineering</a:t>
            </a:r>
          </a:p>
          <a:p>
            <a:pPr>
              <a:spcBef>
                <a:spcPts val="600"/>
              </a:spcBef>
              <a:defRPr sz="1200" b="1">
                <a:solidFill>
                  <a:srgbClr val="94A3B8"/>
                </a:solidFill>
                <a:latin typeface="Arial"/>
              </a:defRPr>
            </a:pPr>
            <a:r>
              <a:t>Batch &amp; Year: </a:t>
            </a:r>
            <a:r>
              <a:rPr b="0">
                <a:solidFill>
                  <a:srgbClr val="F8FAFC"/>
                </a:solidFill>
              </a:rPr>
              <a:t>Batch 2025–2029 | October 2026</a:t>
            </a:r>
          </a:p>
          <a:p>
            <a:pPr>
              <a:spcBef>
                <a:spcPts val="600"/>
              </a:spcBef>
              <a:defRPr sz="1200" b="1">
                <a:solidFill>
                  <a:srgbClr val="94A3B8"/>
                </a:solidFill>
                <a:latin typeface="Arial"/>
              </a:defRPr>
            </a:pPr>
            <a:r>
              <a:t>Evaluation: </a:t>
            </a:r>
            <a:r>
              <a:rPr b="0">
                <a:solidFill>
                  <a:srgbClr val="F8FAFC"/>
                </a:solidFill>
              </a:rPr>
              <a:t>Conceptual Project 2 — Final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Presentation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621792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01   </a:t>
            </a:r>
            <a:r>
              <a:rPr sz="1300" b="1">
                <a:solidFill>
                  <a:srgbClr val="F8FAFC"/>
                </a:solidFill>
                <a:latin typeface="Arial"/>
              </a:rPr>
              <a:t>Problem Statement  —  </a:t>
            </a:r>
            <a:r>
              <a:rPr sz="1200">
                <a:solidFill>
                  <a:srgbClr val="94A3B8"/>
                </a:solidFill>
                <a:latin typeface="Arial"/>
              </a:rPr>
              <a:t>Higher ed recruitment crisis, ATS rejection barriers, and student career fragmentation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2"/>
            <a:ext cx="10698480" cy="621792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57984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02   </a:t>
            </a:r>
            <a:r>
              <a:rPr sz="1300" b="1">
                <a:solidFill>
                  <a:srgbClr val="F8FAFC"/>
                </a:solidFill>
                <a:latin typeface="Arial"/>
              </a:rPr>
              <a:t>Literature Review &amp; Background  —  </a:t>
            </a:r>
            <a:r>
              <a:rPr sz="1200">
                <a:solidFill>
                  <a:srgbClr val="94A3B8"/>
                </a:solidFill>
                <a:latin typeface="Arial"/>
              </a:rPr>
              <a:t>Survey of LinkedIn, Handshake, ATS parsing, and our Deterministic-First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98064"/>
            <a:ext cx="10698480" cy="621792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71216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03   </a:t>
            </a:r>
            <a:r>
              <a:rPr sz="1300" b="1">
                <a:solidFill>
                  <a:srgbClr val="F8FAFC"/>
                </a:solidFill>
                <a:latin typeface="Arial"/>
              </a:rPr>
              <a:t>Methodology &amp; Architecture  —  </a:t>
            </a:r>
            <a:r>
              <a:rPr sz="1200">
                <a:solidFill>
                  <a:srgbClr val="94A3B8"/>
                </a:solidFill>
                <a:latin typeface="Arial"/>
              </a:rPr>
              <a:t>5-stage pipeline, Next.js 15 App Router, Neon PostgreSQL, and 5 pure calculation engines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11296"/>
            <a:ext cx="10698480" cy="621792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04   </a:t>
            </a:r>
            <a:r>
              <a:rPr sz="1300" b="1">
                <a:solidFill>
                  <a:srgbClr val="F8FAFC"/>
                </a:solidFill>
                <a:latin typeface="Arial"/>
              </a:rPr>
              <a:t>Implementation &amp; Live Demo  —  </a:t>
            </a:r>
            <a:r>
              <a:rPr sz="1200">
                <a:solidFill>
                  <a:srgbClr val="94A3B8"/>
                </a:solidFill>
                <a:latin typeface="Arial"/>
              </a:rPr>
              <a:t>Unified Profile, Resume Analyzer, Matching Engine, Kanban Pipeline, and Portfolio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24528"/>
            <a:ext cx="10698480" cy="621792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05   </a:t>
            </a:r>
            <a:r>
              <a:rPr sz="1300" b="1">
                <a:solidFill>
                  <a:srgbClr val="F8FAFC"/>
                </a:solidFill>
                <a:latin typeface="Arial"/>
              </a:rPr>
              <a:t>Testing &amp; Validation  —  </a:t>
            </a:r>
            <a:r>
              <a:rPr sz="1200">
                <a:solidFill>
                  <a:srgbClr val="94A3B8"/>
                </a:solidFill>
                <a:latin typeface="Arial"/>
              </a:rPr>
              <a:t>33/33 Vitest unit tests passing in 135ms, strict type safety, and security audits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621792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06   </a:t>
            </a:r>
            <a:r>
              <a:rPr sz="1300" b="1">
                <a:solidFill>
                  <a:srgbClr val="F8FAFC"/>
                </a:solidFill>
                <a:latin typeface="Arial"/>
              </a:rPr>
              <a:t>Innovation &amp; Future Scope  —  </a:t>
            </a:r>
            <a:r>
              <a:rPr sz="1200">
                <a:solidFill>
                  <a:srgbClr val="94A3B8"/>
                </a:solidFill>
                <a:latin typeface="Arial"/>
              </a:rPr>
              <a:t>Deterministic-First AI-Enriched paradigm, STAR mock interviews, and scalability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50992"/>
            <a:ext cx="10698480" cy="621792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24144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Arial"/>
              </a:rPr>
              <a:t>07   </a:t>
            </a:r>
            <a:r>
              <a:rPr sz="1300" b="1">
                <a:solidFill>
                  <a:srgbClr val="F8FAFC"/>
                </a:solidFill>
                <a:latin typeface="Arial"/>
              </a:rPr>
              <a:t>Conclusion &amp; Learnings  —  </a:t>
            </a:r>
            <a:r>
              <a:rPr sz="1200">
                <a:solidFill>
                  <a:srgbClr val="94A3B8"/>
                </a:solidFill>
                <a:latin typeface="Arial"/>
              </a:rPr>
              <a:t>Deliverables achieved, technical and team takeaways, and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 |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Bridging the College-to-Industry Recruitment Chasm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3756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71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CONTEXT &amp; INDUSTRY REALITY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75%+ ATS Filter Rate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Over three-quarters of entry-level resumes are rejected by automated ATS parsers before recruiter review.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Escalating Job Expectations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Employers demand full-stack depth, version control proof, and quantifiable project metrics for internships.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Placement Cell Bottlenecks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Institutions struggle to provide personalized, real-time feedback to hundreds of students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371600"/>
            <a:ext cx="333756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554480"/>
            <a:ext cx="2971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7171"/>
                </a:solidFill>
                <a:latin typeface="Arial"/>
              </a:defRPr>
            </a:pPr>
            <a:r>
              <a:t>SPECIFIC PROBLEM &amp; GAPS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Severe Tool Fragmentation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Students juggle isolated tools: resume builders, LeetCode, job boards, Notion, and static portfolios.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Opaque Rejection Feedback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Automated rejection emails provide zero diagnosis of whether formatting, skills, or projects failed.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Lack of Structured Roadmaps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Students lack deterministic guidance on how to remediate identified technical skill deficits.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71600"/>
            <a:ext cx="333756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3" y="1554480"/>
            <a:ext cx="2971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t>OUR CORE OBJECTIVE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Unified Student Profile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Establish a single source of truth connecting resumes, skills, GitHub projects, and mock interviews.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Deterministic Readiness Score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Calculate an objective 0–100% composite readiness metric based on 7 real performance signals.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End-to-End Lifecycle OS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Integrate discovery, transparent matching, ATS audits, Kanban tracking, and public portfolios.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| LITERATURE REVIEW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State-of-the-Art Analysis &amp; Identified Deficiencies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EXISTING WORK &amp; KEY REFERENCES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LinkedIn &amp; Indeed: </a:t>
            </a:r>
            <a:r>
              <a:rPr b="0">
                <a:solidFill>
                  <a:srgbClr val="94A3B8"/>
                </a:solidFill>
              </a:rPr>
              <a:t>Massive reach, but recommendation algorithms prioritize connection volume; zero diagnostic skill gap feedback for students.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Handshake &amp; Internshala: </a:t>
            </a:r>
            <a:r>
              <a:rPr b="0">
                <a:solidFill>
                  <a:srgbClr val="94A3B8"/>
                </a:solidFill>
              </a:rPr>
              <a:t>Campus-centric job boards, but function merely as application portals; no ATS scoring, mock interviews, or custom roadmaps.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Commercial ATS Checkers (Jobscan): </a:t>
            </a:r>
            <a:r>
              <a:rPr b="0">
                <a:solidFill>
                  <a:srgbClr val="94A3B8"/>
                </a:solidFill>
              </a:rPr>
              <a:t>Proprietary, paywalled scoring tools that operate in isolation from the student's actual GitHub repos and learning journey.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Shields et al. (2021) [IEEE]: </a:t>
            </a:r>
            <a:r>
              <a:rPr b="0">
                <a:solidFill>
                  <a:srgbClr val="94A3B8"/>
                </a:solidFill>
              </a:rPr>
              <a:t>Proved that unstandardized formatting and lack of quantifiable metrics trigger automated rejection in 75%+ of entry resumes.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Bommasani et al. (2021) [Stanford]: </a:t>
            </a:r>
            <a:r>
              <a:rPr b="0">
                <a:solidFill>
                  <a:srgbClr val="94A3B8"/>
                </a:solidFill>
              </a:rPr>
              <a:t>Highlighted foundation model capabilities in career guidance, alongside hallucinations when outputs lack strict schema 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228600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4937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7171"/>
                </a:solidFill>
                <a:latin typeface="Arial"/>
              </a:defRPr>
            </a:pPr>
            <a:r>
              <a:t>CRITICAL GAP IDENTIFIED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The Fragmentation Bottleneck: No platform connects profile signals, ATS diagnostics, personalized roadmaps, and interview transcripts into a self-improving feedback loop.</a:t>
            </a:r>
            <a:br/>
            <a:r>
              <a:t>• The AI Hallucination Trap: Current 'AI wrappers' generate inconsistent, non-reproducible scores that mislead students and fail under API downtime.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303520" cy="228600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069080"/>
            <a:ext cx="4937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t>OUR APPROACH: DETERMINISTIC-FIRST + AI-ENRICHED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• Pure Deterministic Math: 5 pure TypeScript calculation engines handle Readiness Scoring, Jaccard Matching, and ATS Heuristics with zero hallucination.</a:t>
            </a:r>
            <a:br/>
            <a:r>
              <a:t>• Structured AI Enrichment: Groq Cloud LLMs (Llama-3) are used strictly server-side, bounded by strict Zod JSON schemas for actionable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| METHODOLOGY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Engineering Pipeline &amp; Modern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299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84708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1. INGESTION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PDF Resume Parsing (pdf-parse) &amp; Profile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371600"/>
            <a:ext cx="20299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1463040"/>
            <a:ext cx="184708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2. TAXONOMY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Normalization &amp; Alias Resolution (taxonomy.ts)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371600"/>
            <a:ext cx="20299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7216" y="1463040"/>
            <a:ext cx="184708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3. ENGINES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Deterministic Readiness, Matching &amp; ATS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1371600"/>
            <a:ext cx="20299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1463040"/>
            <a:ext cx="184708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4. AI ENRICH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Groq Llama-3 + Zod JSON Structured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32" y="1371600"/>
            <a:ext cx="2029968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1463040"/>
            <a:ext cx="184708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5. DELIVERY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Kanban Pipeline &amp; Live Portfolio (/p/[slug])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10698480" cy="310896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t>CORE PRODUCTION TECHNOLOGY STACK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Next.js 15 (App Router): </a:t>
            </a:r>
            <a:r>
              <a:rPr b="0">
                <a:solidFill>
                  <a:srgbClr val="94A3B8"/>
                </a:solidFill>
              </a:rPr>
              <a:t>Hybrid SSR, Server Components, and Server Actions for sub-second page delivery.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React 19 + Tailwind v4: </a:t>
            </a:r>
            <a:r>
              <a:rPr b="0">
                <a:solidFill>
                  <a:srgbClr val="94A3B8"/>
                </a:solidFill>
              </a:rPr>
              <a:t>Zero-runtime modern utility styling with reactive client state and Framer Motion.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TypeScript 5 (Strict Mode): </a:t>
            </a:r>
            <a:r>
              <a:rPr b="0">
                <a:solidFill>
                  <a:srgbClr val="94A3B8"/>
                </a:solidFill>
              </a:rPr>
              <a:t>100% compile-time static type safety across database, engines, and UI layers.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Prisma 7 + Neon PostgreSQL: </a:t>
            </a:r>
            <a:r>
              <a:rPr b="0">
                <a:solidFill>
                  <a:srgbClr val="94A3B8"/>
                </a:solidFill>
              </a:rPr>
              <a:t>Serverless PostgreSQL pool with relational schema migrations and indexing.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BetterAuth 1.6 Session Gate: </a:t>
            </a:r>
            <a:r>
              <a:rPr b="0">
                <a:solidFill>
                  <a:srgbClr val="94A3B8"/>
                </a:solidFill>
              </a:rPr>
              <a:t>Cookie-based session identity, PBKDF2 password hashing, and OAuth support.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Groq AI Cloud (Llama-3): </a:t>
            </a:r>
            <a:r>
              <a:rPr b="0">
                <a:solidFill>
                  <a:srgbClr val="94A3B8"/>
                </a:solidFill>
              </a:rPr>
              <a:t>High-throughput server-side LLM inference guarded with strict Zod JSON schemas.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Vitest 4.1.11 Test Suite: </a:t>
            </a:r>
            <a:r>
              <a:rPr b="0">
                <a:solidFill>
                  <a:srgbClr val="94A3B8"/>
                </a:solidFill>
              </a:rPr>
              <a:t>Blazing-fast automated unit test suite executing 33 engine tests in 135ms.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 | IMPLEMENTATION PROGRESS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System Modules &amp; Working Feature Walkthrough</a:t>
            </a:r>
          </a:p>
        </p:txBody>
      </p:sp>
      <p:pic>
        <p:nvPicPr>
          <p:cNvPr id="5" name="Picture 4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257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12080" cy="43891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KEY PRODUCTION MODULES IMPLEMENTED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Unified Student Dashboard: </a:t>
            </a:r>
            <a:r>
              <a:rPr b="0">
                <a:solidFill>
                  <a:srgbClr val="94A3B8"/>
                </a:solidFill>
              </a:rPr>
              <a:t>Dynamic 0–100% Readiness Score combining 7 real performance signals.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Resume Analyzer &amp; ATS Scorecard: </a:t>
            </a:r>
            <a:r>
              <a:rPr b="0">
                <a:solidFill>
                  <a:srgbClr val="94A3B8"/>
                </a:solidFill>
              </a:rPr>
              <a:t>Deterministic heuristic checks + Groq line-by-line bullet suggestions.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Transparent Internship Discovery: </a:t>
            </a:r>
            <a:r>
              <a:rPr b="0">
                <a:solidFill>
                  <a:srgbClr val="94A3B8"/>
                </a:solidFill>
              </a:rPr>
              <a:t>Jaccard-based compatibility scoring, missing skills, and stipend filters.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Application Pipeline Tracker: </a:t>
            </a:r>
            <a:r>
              <a:rPr b="0">
                <a:solidFill>
                  <a:srgbClr val="94A3B8"/>
                </a:solidFill>
              </a:rPr>
              <a:t>7-stage Kanban workflow (Saved to Offer) with event audit logging.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Skill Gap Diagnosis &amp; Roadmaps: </a:t>
            </a:r>
            <a:r>
              <a:rPr b="0">
                <a:solidFill>
                  <a:srgbClr val="94A3B8"/>
                </a:solidFill>
              </a:rPr>
              <a:t>Interactive weekly milestones linked directly to readiness velocity.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AI Mock Interview Simulator: </a:t>
            </a:r>
            <a:r>
              <a:rPr b="0">
                <a:solidFill>
                  <a:srgbClr val="94A3B8"/>
                </a:solidFill>
              </a:rPr>
              <a:t>Technical, HR, Behavioral, and Coding tracks with STAR rubric feedback.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• Public Portfolio Builder: </a:t>
            </a:r>
            <a:r>
              <a:rPr b="0">
                <a:solidFill>
                  <a:srgbClr val="94A3B8"/>
                </a:solidFill>
              </a:rPr>
              <a:t>Auto-generated web portfolio at /p/[slug] with custom vanity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38BDF8"/>
                </a:solidFill>
              </a:rPr>
              <a:t>🔗 GitHub: </a:t>
            </a:r>
            <a:r>
              <a:rPr sz="1100">
                <a:solidFill>
                  <a:srgbClr val="F8FAFC"/>
                </a:solidFill>
              </a:rPr>
              <a:t>https://github.com/Mihirkalway2005/InternEdge   |   </a:t>
            </a:r>
            <a:r>
              <a:rPr b="1" sz="1100">
                <a:solidFill>
                  <a:srgbClr val="34D399"/>
                </a:solidFill>
              </a:rPr>
              <a:t>🏆 HackerRank: </a:t>
            </a:r>
            <a:r>
              <a:rPr sz="1100">
                <a:solidFill>
                  <a:srgbClr val="F8FAFC"/>
                </a:solidFill>
              </a:rPr>
              <a:t>OA Assessments 100% Passed   |   </a:t>
            </a:r>
            <a:r>
              <a:rPr b="1" sz="1100">
                <a:solidFill>
                  <a:srgbClr val="A78BFA"/>
                </a:solidFill>
              </a:rPr>
              <a:t>💻 LeetCode: </a:t>
            </a:r>
            <a:r>
              <a:rPr sz="1100">
                <a:solidFill>
                  <a:srgbClr val="F8FAFC"/>
                </a:solidFill>
              </a:rPr>
              <a:t>Active Competency Tracker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05 |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Quality Assurance Metrics, Unit Testing &amp; Performance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3756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1546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Mathematical Precision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Pure Deterministic Engine Math (Zero Hallucination)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371600"/>
            <a:ext cx="333756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17320"/>
            <a:ext cx="31546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Arial"/>
              </a:defRPr>
            </a:pPr>
            <a:r>
              <a:t>33 / 33</a:t>
            </a:r>
          </a:p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Test Cases Passed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Vitest Automated Engine Test Suite (135ms total)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371600"/>
            <a:ext cx="333756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417320"/>
            <a:ext cx="31546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Arial"/>
              </a:defRPr>
            </a:pPr>
            <a:r>
              <a:t>&lt; 140ms</a:t>
            </a:r>
          </a:p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Response Latency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Sub-millisecond Deterministic Execution per 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698480" cy="34747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VERIFICATION SUITE &amp; QA BREAKDOWN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Unit Testing (Matching Engine): </a:t>
            </a:r>
            <a:r>
              <a:rPr b="0">
                <a:solidFill>
                  <a:srgbClr val="94A3B8"/>
                </a:solidFill>
              </a:rPr>
              <a:t>Validates title relevance, skill overlap, location fit, and eligibility weights.  —  </a:t>
            </a:r>
            <a:r>
              <a:rPr b="1">
                <a:solidFill>
                  <a:srgbClr val="34D399"/>
                </a:solidFill>
              </a:rPr>
              <a:t>✅ 11/11 Passed (3ms)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Unit Testing (Readiness Score): </a:t>
            </a:r>
            <a:r>
              <a:rPr b="0">
                <a:solidFill>
                  <a:srgbClr val="94A3B8"/>
                </a:solidFill>
              </a:rPr>
              <a:t>Validates multi-factor weights, empty profile tolerances, and project links.  —  </a:t>
            </a:r>
            <a:r>
              <a:rPr b="1">
                <a:solidFill>
                  <a:srgbClr val="34D399"/>
                </a:solidFill>
              </a:rPr>
              <a:t>✅ 6/6 Passed (3ms)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Unit Testing (ATS Heuristics): </a:t>
            </a:r>
            <a:r>
              <a:rPr b="0">
                <a:solidFill>
                  <a:srgbClr val="94A3B8"/>
                </a:solidFill>
              </a:rPr>
              <a:t>Tests regex impact verbs, quantifiable metrics detection, and formatting checks.  —  </a:t>
            </a:r>
            <a:r>
              <a:rPr b="1">
                <a:solidFill>
                  <a:srgbClr val="34D399"/>
                </a:solidFill>
              </a:rPr>
              <a:t>✅ 8/8 Passed (3ms)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Unit Testing (Skill Gap Engine): </a:t>
            </a:r>
            <a:r>
              <a:rPr b="0">
                <a:solidFill>
                  <a:srgbClr val="94A3B8"/>
                </a:solidFill>
              </a:rPr>
              <a:t>Tests taxonomy categorization, missing tech detection, and priority sorting.  —  </a:t>
            </a:r>
            <a:r>
              <a:rPr b="1">
                <a:solidFill>
                  <a:srgbClr val="34D399"/>
                </a:solidFill>
              </a:rPr>
              <a:t>✅ 8/8 Passed (7ms)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Type-Safety Validation: </a:t>
            </a:r>
            <a:r>
              <a:rPr b="0">
                <a:solidFill>
                  <a:srgbClr val="94A3B8"/>
                </a:solidFill>
              </a:rPr>
              <a:t>Full static compilation check via TypeScript strict mode (tsc --noEmit).  —  </a:t>
            </a:r>
            <a:r>
              <a:rPr b="1">
                <a:solidFill>
                  <a:srgbClr val="34D399"/>
                </a:solidFill>
              </a:rPr>
              <a:t>✅ 0 Type Errors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Security &amp; Ownership QA: </a:t>
            </a:r>
            <a:r>
              <a:rPr b="0">
                <a:solidFill>
                  <a:srgbClr val="94A3B8"/>
                </a:solidFill>
              </a:rPr>
              <a:t>Validates tenant isolation via assertOwned(); returns 404 on access violations.  —  </a:t>
            </a:r>
            <a:r>
              <a:rPr b="1">
                <a:solidFill>
                  <a:srgbClr val="34D399"/>
                </a:solidFill>
              </a:rPr>
              <a:t>✅ Verified Secure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06 | INNOVATION, CREATIVITY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Architectural Distinctiveness &amp; Scalability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WHAT MAKES INTERNEDGE UNIQUE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Deterministic-First Paradigm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Scores and match percentages are computed mathematically, completely eliminating LLM hallucinations and ensuring 100% reproducible metrics.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Unified Student Profile (SSOT)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Replaced fragmented job portals with a single source of truth connecting resumes, roadmaps, applications, and mock interview transcripts.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Proficiency-Weighted Jaccard Match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Weights beginner, intermediate, advanced, and expert competencies against company requirements with transparent reason breakdowns.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Graceful Degradation Architecture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If third-party AI keys are unset or services fail, 100% of core platform discovery, ATS audits, and Kanban features continue running.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t>FUTURE SCOPE &amp; PRODUCT ROADMAP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Real-Time Conversational Audio Interviews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Integrate WebRTC and Whisper speech-to-text to simulate voice-to-voice mock interviews with real-time vocal tone analysis.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Placement Cell Institutional Portal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Build administrative role dashboards enabling university placement officers to inspect batch readiness distributions and invite recruiters.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Vector Search &amp; RAG Ingestion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Implement pgvector in PostgreSQL to support semantic vector matching across unstructured resume bullet points and job descriptions.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• Cross-Platform Mobile Application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Develop React Native mobile apps for real-time application deadline push alerts, daily task checklists, and interview reminders.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COMPLIANCE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Pre-Evaluation Readiness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t>OFFICIAL EVALUATION READINESS CHECKLIST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Project objectives are clearly defined and documented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100% Completed &amp; Verified in Report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Working prototype / production live demo is ready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Fully Functional on Next.js 15 &amp; Neon DB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Final project report submitted to mentor (Mr. Abhilash Nair)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Complete Word (.docx) &amp; Markdown Report Submitted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All required project milestones achieved according to syllabus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All 9 Platform Modules Built &amp; Active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Presentation slides prepared according to university template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16:9 Widescreen Conceptual Project 2 Deck Prepared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Academic integrity &amp; plagiarism compliance verified (&lt; 20%)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Rigorous Clean Code &amp; Original Implementation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Active team participation and equal workload distribution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All 4 Team Members Actively Contributed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All mentor feedback incorporated into system architecture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Deterministic-First Pattern Adopted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Proof of deployment — GitHub, HackerRank, LeetCode attached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Active Repository at Mihirkalway2005/InternEdge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✓   </a:t>
            </a:r>
            <a:r>
              <a:rPr sz="1100" b="1">
                <a:solidFill>
                  <a:srgbClr val="F8FAFC"/>
                </a:solidFill>
                <a:latin typeface="Arial"/>
              </a:rPr>
              <a:t>Source code, unit tests, and database fixtures organized</a:t>
            </a:r>
            <a:r>
              <a:rPr>
                <a:solidFill>
                  <a:srgbClr val="64748B"/>
                </a:solidFill>
              </a:rPr>
              <a:t>  —  </a:t>
            </a:r>
            <a:r>
              <a:rPr sz="1050">
                <a:solidFill>
                  <a:srgbClr val="38BDF8"/>
                </a:solidFill>
                <a:latin typeface="Arial"/>
              </a:rPr>
              <a:t>33/33 Vitest Tests Passing &amp; Production Seeder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07 | CONCLUSION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Summary, Measurable Outcomes &amp; Academic Learnings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PROJECT SUMMARY &amp; MEASURABLE OUTCOMES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  <a:latin typeface="Arial"/>
              </a:defRPr>
            </a:pPr>
            <a:r>
              <a:t>Successfully engineered InternEdge, a full-lifecycle career acceleration operating system on Next.js 15, React 19, Tailwind CSS v4, Prisma 7, PostgreSQL, and Groq Cloud LLMs.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  <a:latin typeface="Arial"/>
              </a:defRPr>
            </a:pPr>
            <a:r>
              <a:t>• End-to-End Operational System: </a:t>
            </a:r>
            <a:r>
              <a:rPr b="0">
                <a:solidFill>
                  <a:srgbClr val="94A3B8"/>
                </a:solidFill>
              </a:rPr>
              <a:t>9 complete modules deployed spanning Unified Profile, ATS Analyzer, Matching, Roadmaps, Interviews, Kanban, and Portfolios.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  <a:latin typeface="Arial"/>
              </a:defRPr>
            </a:pPr>
            <a:r>
              <a:t>• 100% Test Suite Verification: </a:t>
            </a:r>
            <a:r>
              <a:rPr b="0">
                <a:solidFill>
                  <a:srgbClr val="94A3B8"/>
                </a:solidFill>
              </a:rPr>
              <a:t>33/33 Vitest unit tests passing across 4 deterministic calculation engines in 135 milliseconds.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  <a:latin typeface="Arial"/>
              </a:defRPr>
            </a:pPr>
            <a:r>
              <a:t>• Zero Type Defect Assurance: </a:t>
            </a:r>
            <a:r>
              <a:rPr b="0">
                <a:solidFill>
                  <a:srgbClr val="94A3B8"/>
                </a:solidFill>
              </a:rPr>
              <a:t>Strict TypeScript compilation yielding 0 type errors across 50+ source modules.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  <a:latin typeface="Arial"/>
              </a:defRPr>
            </a:pPr>
            <a:r>
              <a:t>• Verified Open-Source Asset: </a:t>
            </a:r>
            <a:r>
              <a:rPr b="0">
                <a:solidFill>
                  <a:srgbClr val="94A3B8"/>
                </a:solidFill>
              </a:rPr>
              <a:t>Public GitHub repository with clean Git commit history, database migrations, and comprehensive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3931920"/>
          </a:xfrm>
          <a:prstGeom prst="roundRect">
            <a:avLst/>
          </a:prstGeom>
          <a:solidFill>
            <a:srgbClr val="151E2E"/>
          </a:solidFill>
          <a:ln w="15240">
            <a:solidFill>
              <a:srgbClr val="2A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Arial"/>
              </a:defRPr>
            </a:pPr>
            <a:r>
              <a:t>KEY MULTIDISCIPLINARY LEARNINGS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Technical Mastery: </a:t>
            </a:r>
            <a:r>
              <a:rPr b="0">
                <a:solidFill>
                  <a:srgbClr val="94A3B8"/>
                </a:solidFill>
              </a:rPr>
              <a:t>Gained deep proficiency in Next.js 15 App Router, React 19 Server Components, Prisma ORM relational modeling, and Zod runtime schema validation.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Architectural Discipline: </a:t>
            </a:r>
            <a:r>
              <a:rPr b="0">
                <a:solidFill>
                  <a:srgbClr val="94A3B8"/>
                </a:solidFill>
              </a:rPr>
              <a:t>Learned to separate stochastic LLM enrichments from pure deterministic business math to guarantee reliability and zero hallucinations.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Security Engineering: </a:t>
            </a:r>
            <a:r>
              <a:rPr b="0">
                <a:solidFill>
                  <a:srgbClr val="94A3B8"/>
                </a:solidFill>
              </a:rPr>
              <a:t>Implemented cookie-based session verification, multi-tenant ownership assertions, and token-bucket rate limiting.</a:t>
            </a:r>
          </a:p>
          <a:p>
            <a:pPr>
              <a:spcBef>
                <a:spcPts val="5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Team Collaboration: </a:t>
            </a:r>
            <a:r>
              <a:rPr b="0">
                <a:solidFill>
                  <a:srgbClr val="94A3B8"/>
                </a:solidFill>
              </a:rPr>
              <a:t>Practiced agile development, Git branch management, and rigorous peer code reviews across four engineering team members.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440680"/>
            <a:ext cx="530352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5486400"/>
            <a:ext cx="4937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8BDF8"/>
                </a:solidFill>
                <a:latin typeface="Arial"/>
              </a:rPr>
              <a:t>Thank You!  Questions &amp; Feedback Welcome.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Arial"/>
              </a:rPr>
              <a:t>Mentor: Mr. Abhilash Nair  •  School of Technology, Woxsen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